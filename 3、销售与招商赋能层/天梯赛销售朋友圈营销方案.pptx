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5486400" cy="5486400"/>
          </a:xfrm>
          <a:prstGeom prst="ellipse">
            <a:avLst/>
          </a:prstGeom>
          <a:ln w="12700">
            <a:solidFill>
              <a:srgbClr val="2A2A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7C00"/>
          </a:solidFill>
          <a:ln/>
        </p:spPr>
      </p:sp>
      <p:pic>
        <p:nvPicPr>
          <p:cNvPr id="6" name="Image 0" descr="D:/AI工作/杆杆响VI/品牌素材及源文件/PNG/全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1463040" cy="11704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920240"/>
            <a:ext cx="64008" cy="228600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杆杆响天梯赛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1005840" y="26060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销售朋友圈营销方案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005840" y="3383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面向球房老板的朋友圈内容营销SOP</a:t>
            </a:r>
            <a:endParaRPr lang="en-US" sz="1600" dirty="0"/>
          </a:p>
        </p:txBody>
      </p:sp>
      <p:pic>
        <p:nvPicPr>
          <p:cNvPr id="11" name="Image 1" descr="D:/AI工作/杆杆响VI/品牌素材及源文件/素材/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200400"/>
            <a:ext cx="640080" cy="1005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杆杆响智慧台球  |  内部培训资料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64008" cy="5943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方案目录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pic>
        <p:nvPicPr>
          <p:cNvPr id="6" name="Image 0" descr="D:/AI工作/杆杆响VI/品牌素材及源文件/PNG/全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82880"/>
            <a:ext cx="777240" cy="621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23444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1188720" y="1371600"/>
            <a:ext cx="27432" cy="5029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1280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目标、受众画像与发布节奏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19456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1188720" y="2331720"/>
            <a:ext cx="27432" cy="5029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3" name="Text 10"/>
          <p:cNvSpPr/>
          <p:nvPr/>
        </p:nvSpPr>
        <p:spPr>
          <a:xfrm>
            <a:off x="1371600" y="2240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销售人设打造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2606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朋友圈人设定位与四大内容支柱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315468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1188720" y="3291840"/>
            <a:ext cx="27432" cy="5029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7" name="Text 14"/>
          <p:cNvSpPr/>
          <p:nvPr/>
        </p:nvSpPr>
        <p:spPr>
          <a:xfrm>
            <a:off x="137160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月度内容日历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4周循环、28条文案模板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411480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1188720" y="4251960"/>
            <a:ext cx="27432" cy="5029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1" name="Text 18"/>
          <p:cNvSpPr/>
          <p:nvPr/>
        </p:nvSpPr>
        <p:spPr>
          <a:xfrm>
            <a:off x="1371600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关键场景模板库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371600" y="4526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签约官宣、数据战报、权益发布等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54880" y="123444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5394960" y="1371600"/>
            <a:ext cx="27432" cy="5029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5" name="Text 22"/>
          <p:cNvSpPr/>
          <p:nvPr/>
        </p:nvSpPr>
        <p:spPr>
          <a:xfrm>
            <a:off x="5577840" y="1280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配图素材规划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57784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素材清单与获取方式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54880" y="219456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800" dirty="0"/>
          </a:p>
        </p:txBody>
      </p:sp>
      <p:sp>
        <p:nvSpPr>
          <p:cNvPr id="28" name="Shape 25"/>
          <p:cNvSpPr/>
          <p:nvPr/>
        </p:nvSpPr>
        <p:spPr>
          <a:xfrm>
            <a:off x="5394960" y="2331720"/>
            <a:ext cx="27432" cy="5029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9" name="Text 26"/>
          <p:cNvSpPr/>
          <p:nvPr/>
        </p:nvSpPr>
        <p:spPr>
          <a:xfrm>
            <a:off x="5577840" y="2240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运营注意事项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577840" y="2606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时间、文案原则与互动技巧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754880" y="315468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800" dirty="0"/>
          </a:p>
        </p:txBody>
      </p:sp>
      <p:sp>
        <p:nvSpPr>
          <p:cNvPr id="32" name="Shape 29"/>
          <p:cNvSpPr/>
          <p:nvPr/>
        </p:nvSpPr>
        <p:spPr>
          <a:xfrm>
            <a:off x="5394960" y="3291840"/>
            <a:ext cx="27432" cy="5029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3" name="Text 30"/>
          <p:cNvSpPr/>
          <p:nvPr/>
        </p:nvSpPr>
        <p:spPr>
          <a:xfrm>
            <a:off x="557784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销售跟进SOP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57784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线索分级、话术模板与转化节点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754880" y="411480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800" dirty="0"/>
          </a:p>
        </p:txBody>
      </p:sp>
      <p:sp>
        <p:nvSpPr>
          <p:cNvPr id="36" name="Shape 33"/>
          <p:cNvSpPr/>
          <p:nvPr/>
        </p:nvSpPr>
        <p:spPr>
          <a:xfrm>
            <a:off x="5394960" y="4251960"/>
            <a:ext cx="27432" cy="5029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7" name="Text 34"/>
          <p:cNvSpPr/>
          <p:nvPr/>
        </p:nvSpPr>
        <p:spPr>
          <a:xfrm>
            <a:off x="5577840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效果追踪与优化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577840" y="4526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关键指标与复盘机制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4008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一、方案总览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1300" dirty="0"/>
          </a:p>
        </p:txBody>
      </p:sp>
      <p:pic>
        <p:nvPicPr>
          <p:cNvPr id="5" name="Image 0" descr="D:/AI工作/杆杆响VI/品牌素材及源文件/PNG/白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28600"/>
            <a:ext cx="822960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280160"/>
            <a:ext cx="1965960" cy="2377440"/>
          </a:xfrm>
          <a:prstGeom prst="rect">
            <a:avLst>
              <a:gd name="adj" fmla="val 3721"/>
            </a:avLst>
          </a:prstGeom>
          <a:solidFill>
            <a:srgbClr val="2A2A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280160"/>
            <a:ext cx="196596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08760"/>
            <a:ext cx="685800" cy="68580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1508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02920" y="2331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建立专业信任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27432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塑造"台球行业赛事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解决方案专家"人设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60320" y="1280160"/>
            <a:ext cx="1965960" cy="2377440"/>
          </a:xfrm>
          <a:prstGeom prst="rect">
            <a:avLst>
              <a:gd name="adj" fmla="val 3721"/>
            </a:avLst>
          </a:prstGeom>
          <a:solidFill>
            <a:srgbClr val="2A2A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1280160"/>
            <a:ext cx="196596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4" name="Shape 11"/>
          <p:cNvSpPr/>
          <p:nvPr/>
        </p:nvSpPr>
        <p:spPr>
          <a:xfrm>
            <a:off x="3200400" y="1508760"/>
            <a:ext cx="685800" cy="68580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5" name="Text 12"/>
          <p:cNvSpPr/>
          <p:nvPr/>
        </p:nvSpPr>
        <p:spPr>
          <a:xfrm>
            <a:off x="3200400" y="1508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651760" y="2331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制造紧迫感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651760" y="27432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通过先锋客户权益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区域独家保护推动决策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1280160"/>
            <a:ext cx="1965960" cy="2377440"/>
          </a:xfrm>
          <a:prstGeom prst="rect">
            <a:avLst>
              <a:gd name="adj" fmla="val 3721"/>
            </a:avLst>
          </a:prstGeom>
          <a:solidFill>
            <a:srgbClr val="2A2A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1280160"/>
            <a:ext cx="196596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0" name="Shape 17"/>
          <p:cNvSpPr/>
          <p:nvPr/>
        </p:nvSpPr>
        <p:spPr>
          <a:xfrm>
            <a:off x="5349240" y="1508760"/>
            <a:ext cx="685800" cy="68580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21" name="Text 18"/>
          <p:cNvSpPr/>
          <p:nvPr/>
        </p:nvSpPr>
        <p:spPr>
          <a:xfrm>
            <a:off x="5349240" y="1508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800600" y="2331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用案例说话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800600" y="27432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展示合作球房的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真实经营增长数据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858000" y="1280160"/>
            <a:ext cx="1965960" cy="2377440"/>
          </a:xfrm>
          <a:prstGeom prst="rect">
            <a:avLst>
              <a:gd name="adj" fmla="val 3721"/>
            </a:avLst>
          </a:prstGeom>
          <a:solidFill>
            <a:srgbClr val="2A2A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858000" y="1280160"/>
            <a:ext cx="196596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6" name="Shape 23"/>
          <p:cNvSpPr/>
          <p:nvPr/>
        </p:nvSpPr>
        <p:spPr>
          <a:xfrm>
            <a:off x="7498080" y="1508760"/>
            <a:ext cx="685800" cy="68580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27" name="Text 24"/>
          <p:cNvSpPr/>
          <p:nvPr/>
        </p:nvSpPr>
        <p:spPr>
          <a:xfrm>
            <a:off x="7498080" y="1508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949440" y="2331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引导私聊转化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949440" y="27432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每条朋友圈设置"钩子"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引导客户主动咨询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11480" y="3931920"/>
            <a:ext cx="8321040" cy="960120"/>
          </a:xfrm>
          <a:prstGeom prst="rect">
            <a:avLst>
              <a:gd name="adj" fmla="val 7619"/>
            </a:avLst>
          </a:prstGeom>
          <a:solidFill>
            <a:srgbClr val="2A2A2A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3977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发布节奏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40080" y="4343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工作日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60020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每天1条  12:00-13:00 / 20:00-22:00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429000" y="4343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38912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1条现场视频  赛事实况/球房走访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217920" y="4343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重要节点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17804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可加发1条  签约/赛事/数据复盘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64008" cy="5943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核心受众画像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 AUDIENCE</a:t>
            </a:r>
            <a:endParaRPr lang="en-US" sz="1200" dirty="0"/>
          </a:p>
        </p:txBody>
      </p:sp>
      <p:pic>
        <p:nvPicPr>
          <p:cNvPr id="6" name="Image 0" descr="D:/AI工作/杆杆响VI/品牌素材及源文件/PNG/全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82880"/>
            <a:ext cx="777240" cy="621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目标客户：台球场馆经营者/老板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393192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600200"/>
            <a:ext cx="54864" cy="7315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竞技主场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中型球房 1000-3000㎡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801368"/>
            <a:ext cx="1005840" cy="329184"/>
          </a:xfrm>
          <a:prstGeom prst="rect">
            <a:avLst>
              <a:gd name="adj" fmla="val 11111"/>
            </a:avLst>
          </a:prstGeom>
          <a:solidFill>
            <a:srgbClr val="F57C00"/>
          </a:solidFill>
          <a:ln/>
        </p:spPr>
      </p:sp>
      <p:sp>
        <p:nvSpPr>
          <p:cNvPr id="13" name="Text 10"/>
          <p:cNvSpPr/>
          <p:nvPr/>
        </p:nvSpPr>
        <p:spPr>
          <a:xfrm>
            <a:off x="3337560" y="180136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2468880"/>
            <a:ext cx="393192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2468880"/>
            <a:ext cx="54864" cy="731520"/>
          </a:xfrm>
          <a:prstGeom prst="rect">
            <a:avLst/>
          </a:prstGeom>
          <a:solidFill>
            <a:srgbClr val="EDBE44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挑战据点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小型球房 1000㎡以下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37560" y="2670048"/>
            <a:ext cx="1005840" cy="329184"/>
          </a:xfrm>
          <a:prstGeom prst="rect">
            <a:avLst>
              <a:gd name="adj" fmla="val 11111"/>
            </a:avLst>
          </a:prstGeom>
          <a:solidFill>
            <a:srgbClr val="EDBE44"/>
          </a:solidFill>
          <a:ln/>
        </p:spPr>
      </p:sp>
      <p:sp>
        <p:nvSpPr>
          <p:cNvPr id="19" name="Text 16"/>
          <p:cNvSpPr/>
          <p:nvPr/>
        </p:nvSpPr>
        <p:spPr>
          <a:xfrm>
            <a:off x="3337560" y="267004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低门槛切入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3337560"/>
            <a:ext cx="393192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" y="3337560"/>
            <a:ext cx="54864" cy="7315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王者殿堂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7724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大型/连锁 3000㎡+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337560" y="3538728"/>
            <a:ext cx="1005840" cy="329184"/>
          </a:xfrm>
          <a:prstGeom prst="rect">
            <a:avLst>
              <a:gd name="adj" fmla="val 11111"/>
            </a:avLst>
          </a:prstGeom>
          <a:solidFill>
            <a:srgbClr val="E65100"/>
          </a:solidFill>
          <a:ln/>
        </p:spPr>
      </p:sp>
      <p:sp>
        <p:nvSpPr>
          <p:cNvPr id="25" name="Text 22"/>
          <p:cNvSpPr/>
          <p:nvPr/>
        </p:nvSpPr>
        <p:spPr>
          <a:xfrm>
            <a:off x="3337560" y="353872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深度联营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54880" y="1143000"/>
            <a:ext cx="4023360" cy="3520440"/>
          </a:xfrm>
          <a:prstGeom prst="rect">
            <a:avLst>
              <a:gd name="adj" fmla="val 2078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客户四大痛点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029200" y="1828800"/>
            <a:ext cx="320040" cy="32004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0" y="1783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获客难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537960" y="1783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依赖地推和老客，缺乏持续引流手段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9200" y="2514600"/>
            <a:ext cx="320040" cy="32004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33" name="Text 30"/>
          <p:cNvSpPr/>
          <p:nvPr/>
        </p:nvSpPr>
        <p:spPr>
          <a:xfrm>
            <a:off x="502920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48640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留存差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537960" y="2468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玩家粘性低，没有回头率保障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029200" y="3200400"/>
            <a:ext cx="320040" cy="32004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486400" y="3154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赛事难办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537960" y="3154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传统赛事组织成本高、周期长、参与度不稳定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029200" y="3886200"/>
            <a:ext cx="320040" cy="32004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486400" y="3840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同质化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6537960" y="3840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球房之间缺乏差异化竞争力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4008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二、销售人设打造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BRANDING</a:t>
            </a:r>
            <a:endParaRPr lang="en-US" sz="1300" dirty="0"/>
          </a:p>
        </p:txBody>
      </p:sp>
      <p:pic>
        <p:nvPicPr>
          <p:cNvPr id="5" name="Image 0" descr="D:/AI工作/杆杆响VI/品牌素材及源文件/PNG/白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28600"/>
            <a:ext cx="822960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188720"/>
            <a:ext cx="3840480" cy="1463040"/>
          </a:xfrm>
          <a:prstGeom prst="rect">
            <a:avLst>
              <a:gd name="adj" fmla="val 5000"/>
            </a:avLst>
          </a:prstGeom>
          <a:solidFill>
            <a:srgbClr val="2A2A2A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188720"/>
            <a:ext cx="384048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核心人设定位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台球行业赛事生态顾问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2011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不是"卖软件的销售"，而是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"帮球房老板增长营收的行业伙伴"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1371600"/>
            <a:ext cx="1005840" cy="365760"/>
          </a:xfrm>
          <a:prstGeom prst="rect">
            <a:avLst>
              <a:gd name="adj" fmla="val 10000"/>
            </a:avLst>
          </a:prstGeom>
          <a:solidFill>
            <a:srgbClr val="F57C00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懂行业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0" y="1371600"/>
            <a:ext cx="1005840" cy="365760"/>
          </a:xfrm>
          <a:prstGeom prst="rect">
            <a:avLst>
              <a:gd name="adj" fmla="val 10000"/>
            </a:avLst>
          </a:prstGeom>
          <a:solidFill>
            <a:srgbClr val="F57C00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有案例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58000" y="1371600"/>
            <a:ext cx="1005840" cy="365760"/>
          </a:xfrm>
          <a:prstGeom prst="rect">
            <a:avLst>
              <a:gd name="adj" fmla="val 10000"/>
            </a:avLst>
          </a:prstGeom>
          <a:solidFill>
            <a:srgbClr val="F57C0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给方案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01000" y="1371600"/>
            <a:ext cx="1005840" cy="365760"/>
          </a:xfrm>
          <a:prstGeom prst="rect">
            <a:avLst>
              <a:gd name="adj" fmla="val 10000"/>
            </a:avLst>
          </a:prstGeom>
          <a:solidFill>
            <a:srgbClr val="F57C00"/>
          </a:solidFill>
          <a:ln/>
        </p:spPr>
      </p:sp>
      <p:sp>
        <p:nvSpPr>
          <p:cNvPr id="18" name="Text 15"/>
          <p:cNvSpPr/>
          <p:nvPr/>
        </p:nvSpPr>
        <p:spPr>
          <a:xfrm>
            <a:off x="800100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说人话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0" y="1920240"/>
            <a:ext cx="4114800" cy="777240"/>
          </a:xfrm>
          <a:prstGeom prst="rect">
            <a:avLst>
              <a:gd name="adj" fmla="val 7059"/>
            </a:avLst>
          </a:prstGeom>
          <a:solidFill>
            <a:srgbClr val="2A2A2A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0" y="1965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头像：本人职业照 + 杆杆响logo角标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昵称：真名 | 杆杆响天梯赛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签名：帮球房用赛事做增长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背景图：天梯赛品牌主KV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5720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朋友圈四大内容支柱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11480" y="3337560"/>
            <a:ext cx="1965960" cy="1508760"/>
          </a:xfrm>
          <a:prstGeom prst="rect">
            <a:avLst>
              <a:gd name="adj" fmla="val 3636"/>
            </a:avLst>
          </a:prstGeom>
          <a:solidFill>
            <a:srgbClr val="2A2A2A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3337560"/>
            <a:ext cx="1965960" cy="457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34290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14300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价值输出型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02920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行业趋势、痛点分析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建立专业度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560320" y="3337560"/>
            <a:ext cx="1965960" cy="1508760"/>
          </a:xfrm>
          <a:prstGeom prst="rect">
            <a:avLst>
              <a:gd name="adj" fmla="val 3636"/>
            </a:avLst>
          </a:prstGeom>
          <a:solidFill>
            <a:srgbClr val="2A2A2A"/>
          </a:solidFill>
          <a:ln/>
        </p:spPr>
      </p:sp>
      <p:sp>
        <p:nvSpPr>
          <p:cNvPr id="28" name="Shape 25"/>
          <p:cNvSpPr/>
          <p:nvPr/>
        </p:nvSpPr>
        <p:spPr>
          <a:xfrm>
            <a:off x="2560320" y="3337560"/>
            <a:ext cx="1965960" cy="45720"/>
          </a:xfrm>
          <a:prstGeom prst="rect">
            <a:avLst/>
          </a:prstGeom>
          <a:solidFill>
            <a:srgbClr val="EDBE44"/>
          </a:solidFill>
          <a:ln/>
        </p:spPr>
      </p:sp>
      <p:sp>
        <p:nvSpPr>
          <p:cNvPr id="29" name="Text 26"/>
          <p:cNvSpPr/>
          <p:nvPr/>
        </p:nvSpPr>
        <p:spPr>
          <a:xfrm>
            <a:off x="2651760" y="34290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329184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案例证言型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651760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合作球房数据、反馈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建立信任度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709160" y="3337560"/>
            <a:ext cx="1965960" cy="1508760"/>
          </a:xfrm>
          <a:prstGeom prst="rect">
            <a:avLst>
              <a:gd name="adj" fmla="val 3636"/>
            </a:avLst>
          </a:prstGeom>
          <a:solidFill>
            <a:srgbClr val="2A2A2A"/>
          </a:solidFill>
          <a:ln/>
        </p:spPr>
      </p:sp>
      <p:sp>
        <p:nvSpPr>
          <p:cNvPr id="33" name="Shape 30"/>
          <p:cNvSpPr/>
          <p:nvPr/>
        </p:nvSpPr>
        <p:spPr>
          <a:xfrm>
            <a:off x="4709160" y="3337560"/>
            <a:ext cx="1965960" cy="457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4" name="Text 31"/>
          <p:cNvSpPr/>
          <p:nvPr/>
        </p:nvSpPr>
        <p:spPr>
          <a:xfrm>
            <a:off x="4800600" y="34290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544068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产品亮点型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800600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天梯赛功能展示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传递产品力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858000" y="3337560"/>
            <a:ext cx="1965960" cy="1508760"/>
          </a:xfrm>
          <a:prstGeom prst="rect">
            <a:avLst>
              <a:gd name="adj" fmla="val 3636"/>
            </a:avLst>
          </a:prstGeom>
          <a:solidFill>
            <a:srgbClr val="2A2A2A"/>
          </a:solidFill>
          <a:ln/>
        </p:spPr>
      </p:sp>
      <p:sp>
        <p:nvSpPr>
          <p:cNvPr id="38" name="Shape 35"/>
          <p:cNvSpPr/>
          <p:nvPr/>
        </p:nvSpPr>
        <p:spPr>
          <a:xfrm>
            <a:off x="6858000" y="3337560"/>
            <a:ext cx="1965960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9" name="Text 36"/>
          <p:cNvSpPr/>
          <p:nvPr/>
        </p:nvSpPr>
        <p:spPr>
          <a:xfrm>
            <a:off x="6949440" y="34290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2400" dirty="0"/>
          </a:p>
        </p:txBody>
      </p:sp>
      <p:sp>
        <p:nvSpPr>
          <p:cNvPr id="40" name="Text 37"/>
          <p:cNvSpPr/>
          <p:nvPr/>
        </p:nvSpPr>
        <p:spPr>
          <a:xfrm>
            <a:off x="758952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生活分享型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949440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走访日常、个人状态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拉近距离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64008" cy="5943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三、月度内容日历（4周循环）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 CALENDAR</a:t>
            </a:r>
            <a:endParaRPr lang="en-US" sz="1200" dirty="0"/>
          </a:p>
        </p:txBody>
      </p:sp>
      <p:pic>
        <p:nvPicPr>
          <p:cNvPr id="6" name="Image 0" descr="D:/AI工作/杆杆响VI/品牌素材及源文件/PNG/全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82880"/>
            <a:ext cx="7772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143000"/>
            <a:ext cx="822960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143000"/>
            <a:ext cx="54864" cy="8686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280160"/>
            <a:ext cx="777240" cy="594360"/>
          </a:xfrm>
          <a:prstGeom prst="rect">
            <a:avLst>
              <a:gd name="adj" fmla="val 6154"/>
            </a:avLst>
          </a:prstGeom>
          <a:solidFill>
            <a:srgbClr val="F57C00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128016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0020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痛点唤醒 + 概念植入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00200" y="1508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让球房老板意识到传统模式有问题，赛事化是方向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0" y="12344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 价值输出 | 周二 案例证言 | 周三 产品亮点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 价值输出 | 周五 案例证言 | 周末 现场实拍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2148840"/>
            <a:ext cx="822960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148840"/>
            <a:ext cx="54864" cy="868680"/>
          </a:xfrm>
          <a:prstGeom prst="rect">
            <a:avLst/>
          </a:prstGeom>
          <a:solidFill>
            <a:srgbClr val="EDBE44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2286000"/>
            <a:ext cx="777240" cy="594360"/>
          </a:xfrm>
          <a:prstGeom prst="rect">
            <a:avLst>
              <a:gd name="adj" fmla="val 6154"/>
            </a:avLst>
          </a:prstGeom>
          <a:solidFill>
            <a:srgbClr val="EDBE44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22860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60020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方案介绍 + 权益吸引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600200" y="2514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让老板了解合作具体能得到什么，制造紧迫感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0" y="22402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 三级体系 | 周二 差异化 | 周三 经营数据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 独家保护 | 周五 签约现场 | 周末 走访日常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3154680"/>
            <a:ext cx="822960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154680"/>
            <a:ext cx="54864" cy="8686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3" name="Shape 20"/>
          <p:cNvSpPr/>
          <p:nvPr/>
        </p:nvSpPr>
        <p:spPr>
          <a:xfrm>
            <a:off x="658368" y="3291840"/>
            <a:ext cx="777240" cy="594360"/>
          </a:xfrm>
          <a:prstGeom prst="rect">
            <a:avLst>
              <a:gd name="adj" fmla="val 6154"/>
            </a:avLst>
          </a:prstGeom>
          <a:solidFill>
            <a:srgbClr val="E65100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" y="329184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第3周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6002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逼单催化 + 紧迫感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600200" y="3520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加速犹豫客户的决策，用稀缺性推动签约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0" y="32461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 成本分析 | 周二 多球房案例 | 周三 运营支持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 名额倒计时 | 周五 转介绍 | 周末 赛事高光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" y="4160520"/>
            <a:ext cx="822960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" y="4160520"/>
            <a:ext cx="54864" cy="8686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0" name="Shape 27"/>
          <p:cNvSpPr/>
          <p:nvPr/>
        </p:nvSpPr>
        <p:spPr>
          <a:xfrm>
            <a:off x="658368" y="4297680"/>
            <a:ext cx="777240" cy="594360"/>
          </a:xfrm>
          <a:prstGeom prst="rect">
            <a:avLst>
              <a:gd name="adj" fmla="val 6154"/>
            </a:avLst>
          </a:prstGeom>
          <a:solidFill>
            <a:srgbClr val="FFC107"/>
          </a:solidFill>
          <a:ln/>
        </p:spPr>
      </p:sp>
      <p:sp>
        <p:nvSpPr>
          <p:cNvPr id="31" name="Text 28"/>
          <p:cNvSpPr/>
          <p:nvPr/>
        </p:nvSpPr>
        <p:spPr>
          <a:xfrm>
            <a:off x="658368" y="429768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第4周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60020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收网成交 + 续航铺垫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600200" y="4526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促成签约，同时为下月循环铺垫新素材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0" y="42519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 FAQ解答 | 周二 深度案例 | 周三 赛季机制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 月度战报 | 周五 客户感言 | 周末 复盘展望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4008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第1周：痛点唤醒文案示例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1 TEMPLATES</a:t>
            </a:r>
            <a:endParaRPr lang="en-US" sz="1300" dirty="0"/>
          </a:p>
        </p:txBody>
      </p:sp>
      <p:pic>
        <p:nvPicPr>
          <p:cNvPr id="5" name="Image 0" descr="D:/AI工作/杆杆响VI/品牌素材及源文件/PNG/白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28600"/>
            <a:ext cx="822960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188720"/>
            <a:ext cx="4114800" cy="3657600"/>
          </a:xfrm>
          <a:prstGeom prst="rect">
            <a:avLst>
              <a:gd name="adj" fmla="val 2000"/>
            </a:avLst>
          </a:prstGeom>
          <a:solidFill>
            <a:srgbClr val="2A2A2A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188720"/>
            <a:ext cx="4114800" cy="457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298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 | 价值输出 · 痛点共鸣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3749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你的球房，是不是也遇到这个问题？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平时只靠散客和老顾客撑着，节假日热闹一阵，过后又回到冷清。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不是球房不行，是缺了一个让客人"不得不来"的理由。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传统赛事？组织成本高、参与人数少、打完就走。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真正让球房持续火爆的，是一个"全年无休的竞技系统"。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私信我，看看别人怎么做到月增台时30%的。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114800" cy="3657600"/>
          </a:xfrm>
          <a:prstGeom prst="rect">
            <a:avLst>
              <a:gd name="adj" fmla="val 2000"/>
            </a:avLst>
          </a:prstGeom>
          <a:solidFill>
            <a:srgbClr val="2A2A2A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1188720"/>
            <a:ext cx="4114800" cy="45720"/>
          </a:xfrm>
          <a:prstGeom prst="rect">
            <a:avLst/>
          </a:prstGeom>
          <a:solidFill>
            <a:srgbClr val="EDBE44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298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 | 产品亮点 · 核心机制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1691640"/>
            <a:ext cx="3749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经常有老板问我：你们这个天梯赛，跟普通比赛有啥不一样？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一句话概括：这不是一场比赛，这是一个全年无休的排位系统。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玩家24小时可以约战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输赢都有积分，积分当钱花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段位从青铜到王者，越打越上瘾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对球房来说：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每一局对战 = 一次台时消费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每一分积分 = 一次复购理由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系统帮你把"偶尔来打球"的人，变成"每周必来"的人。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配图建议：球房冷清vs热闹对比图 / 天梯赛系统界面截图 / 段位体系图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64008" cy="5943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第2周：方案展示文案示例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2 TEMPLATES</a:t>
            </a:r>
            <a:endParaRPr lang="en-US" sz="1200" dirty="0"/>
          </a:p>
        </p:txBody>
      </p:sp>
      <p:pic>
        <p:nvPicPr>
          <p:cNvPr id="6" name="Image 0" descr="D:/AI工作/杆杆响VI/品牌素材及源文件/PNG/全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82880"/>
            <a:ext cx="7772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97280"/>
            <a:ext cx="4114800" cy="3749040"/>
          </a:xfrm>
          <a:prstGeom prst="rect">
            <a:avLst>
              <a:gd name="adj" fmla="val 14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97280"/>
            <a:ext cx="54864" cy="374904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 | 三级合作体系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很多老板第一个问题是：合作有几种方式？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我们有三个级别，匹配不同体量的球房：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挑战据点 — 零门槛接入，做社区流量入口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竞技主场 — 5公里独家保护，举办官方晋级赛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王者殿堂 — 城市旗舰，赛事收入分成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不管你的球房是500㎡还是5000㎡，都有适合的起步方式。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而且，现在签约的"先锋客户"，享有区域独家保护权，错过了就是错过了。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私信我，帮你做个定位评估。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4114800" cy="3749040"/>
          </a:xfrm>
          <a:prstGeom prst="rect">
            <a:avLst>
              <a:gd name="adj" fmla="val 14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97280"/>
            <a:ext cx="54864" cy="37490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 | 独家保护机制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9204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今天必须讲清楚一个重要政策：区域独家保护权。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什么意思？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如果你签了L2"竞技主场"，你方圆5公里内，我们不会再发展第二家L2及以上的合作伙伴。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如果你签了L3"挑战据点"，方圆3公里独家保护。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而且先锋客户享有6-12个月的独家布局窗口期。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简单说：谁先签，谁占位。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你犹豫的时候，可能隔壁那家已经在谈了。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这不是逼你签，是给你看清楚规则。有想法就私信我。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4008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第3周：逼单催化文案示例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3 TEMPLATES</a:t>
            </a:r>
            <a:endParaRPr lang="en-US" sz="1300" dirty="0"/>
          </a:p>
        </p:txBody>
      </p:sp>
      <p:pic>
        <p:nvPicPr>
          <p:cNvPr id="5" name="Image 0" descr="D:/AI工作/杆杆响VI/品牌素材及源文件/PNG/白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28600"/>
            <a:ext cx="822960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188720"/>
            <a:ext cx="4114800" cy="3657600"/>
          </a:xfrm>
          <a:prstGeom prst="rect">
            <a:avLst>
              <a:gd name="adj" fmla="val 2000"/>
            </a:avLst>
          </a:prstGeom>
          <a:solidFill>
            <a:srgbClr val="2A2A2A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188720"/>
            <a:ext cx="4114800" cy="457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298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 | 价值输出 · 错过成本分析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3749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跟大家算一笔账：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一家球房，20张台，周中空台率50%。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按平均台时60元算，每天浪费的收入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20 x 50% x 8小时 x 60 = 4800元。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一个月就是14.4万的"隐性亏损"。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天梯赛要解决的，就是这部分浪费。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通过赛事让周中也有人打，把空台变成收入。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你不接，这些钱不会凭空出现。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你接了，至少有一个系统在帮你往里填。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账算清楚了吗？私信我聊聊你的球房情况。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114800" cy="3657600"/>
          </a:xfrm>
          <a:prstGeom prst="rect">
            <a:avLst>
              <a:gd name="adj" fmla="val 2000"/>
            </a:avLst>
          </a:prstGeom>
          <a:solidFill>
            <a:srgbClr val="2A2A2A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1188720"/>
            <a:ext cx="4114800" cy="457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298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 | 名额倒计时/窗口期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1691640"/>
            <a:ext cx="3749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提醒一下关注天梯赛的老板们：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当前城市L2"竞技主场"名额有限。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因为独家保护机制的存在，每个区域只能接入1家L2。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一旦你所在片区被签走，就没有第二个机会了。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不是危言耸听，上周已经有老板因为犹豫了三天，发现目标区域被人抢先了。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如果你还在考虑，建议至少先做个区域查询：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私信我你的球房地址，我帮你查一下你那片还有没有名额。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64008" cy="5943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第4周：收网成交文案示例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4 TEMPLATES</a:t>
            </a:r>
            <a:endParaRPr lang="en-US" sz="1200" dirty="0"/>
          </a:p>
        </p:txBody>
      </p:sp>
      <p:pic>
        <p:nvPicPr>
          <p:cNvPr id="6" name="Image 0" descr="D:/AI工作/杆杆响VI/品牌素材及源文件/PNG/全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82880"/>
            <a:ext cx="7772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97280"/>
            <a:ext cx="4114800" cy="3749040"/>
          </a:xfrm>
          <a:prstGeom prst="rect">
            <a:avLst>
              <a:gd name="adj" fmla="val 14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97280"/>
            <a:ext cx="54864" cy="374904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 | FAQ · 常见顾虑解答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总结了老板们最常问的5个问题：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Q1: 会不会增加运营成本？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不会。系统自动化运营，无需额外招人。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Q2: 万一没效果呢？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完整运营支持+季度复盘，持续优化。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Q3: 积分兑换会不会亏钱？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积分带来的是增量消费，整体是赚的。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Q4: 独家保护怎么保证？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写入合同，具有法律效力。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Q5: 最快多久见效？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大部分球房1个月内台时明显提升。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4114800" cy="3749040"/>
          </a:xfrm>
          <a:prstGeom prst="rect">
            <a:avLst>
              <a:gd name="adj" fmla="val 14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97280"/>
            <a:ext cx="54864" cy="3749040"/>
          </a:xfrm>
          <a:prstGeom prst="rect">
            <a:avLst/>
          </a:prstGeom>
          <a:solidFill>
            <a:srgbClr val="EDBE44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 | 客户感言合集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9204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月底了，分享几条合作老板的真实反馈：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"最惊喜的是，有个玩家为了打天梯赛专门办了月卡。"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李老板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"以前周三晚上基本没人，现在约战的人排到10点。"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张老板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"系统帮我省了一个前台的人力，自动记分太方便了。"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赵老板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"独家保护权让我很安心，至少不用担心隔壁抢客。"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王老板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说一千道一万，不如客户自己说。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想成为下一个分享者吗？先从私信我开始。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4008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四、关键场景模板库（上）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 TEMPLATES</a:t>
            </a:r>
            <a:endParaRPr lang="en-US" sz="1300" dirty="0"/>
          </a:p>
        </p:txBody>
      </p:sp>
      <p:pic>
        <p:nvPicPr>
          <p:cNvPr id="5" name="Image 0" descr="D:/AI工作/杆杆响VI/品牌素材及源文件/PNG/白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28600"/>
            <a:ext cx="822960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188720"/>
            <a:ext cx="4114800" cy="2926080"/>
          </a:xfrm>
          <a:prstGeom prst="rect">
            <a:avLst>
              <a:gd name="adj" fmla="val 2500"/>
            </a:avLst>
          </a:prstGeom>
          <a:solidFill>
            <a:srgbClr val="2A2A2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场景1：新签约客户官宣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64592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热烈欢迎【球房名称】正式加入杆杆响天梯赛生态！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作为【XX区】首家"竞技主场"认证赛点，将获得：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- 5公里区域独家保护权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官方每周晋级赛举办资格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全套数字系统+运营培训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持续流量导入与品牌曝光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你的球房也想成为认证赛点？名额有限，私信我了解。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3840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配图：签约合影 + 授权铜牌 + 球房外景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114800" cy="2926080"/>
          </a:xfrm>
          <a:prstGeom prst="rect">
            <a:avLst>
              <a:gd name="adj" fmla="val 2500"/>
            </a:avLst>
          </a:prstGeom>
          <a:solidFill>
            <a:srgbClr val="2A2A2A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场景2：赛事数据战报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【天梯赛周报】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本周全城赛事数据：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对战场次：XXX场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新增玩家：XX人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最高连胜：X连胜（来自XX球房）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积分消费总额：XXX元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数据不会说谎。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每一场对战，都是一次台时消费。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每一分积分，都是一次复购动力。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还没加入天梯赛的球房老板，你在等什么？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846320" y="3840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配图：数据可视化图表 / 系统后台截图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5760" y="4251960"/>
            <a:ext cx="8412480" cy="594360"/>
          </a:xfrm>
          <a:prstGeom prst="rect">
            <a:avLst>
              <a:gd name="adj" fmla="val 9231"/>
            </a:avLst>
          </a:prstGeom>
          <a:solidFill>
            <a:srgbClr val="2A2A2A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所有模板中的【XX】部分需替换为真实数据/名称  |  每条文案结尾都设置了「行动钩子」引导私信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64008" cy="5943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关键场景模板库（下）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 TEMPLATES</a:t>
            </a:r>
            <a:endParaRPr lang="en-US" sz="1200" dirty="0"/>
          </a:p>
        </p:txBody>
      </p:sp>
      <p:pic>
        <p:nvPicPr>
          <p:cNvPr id="6" name="Image 0" descr="D:/AI工作/杆杆响VI/品牌素材及源文件/PNG/全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82880"/>
            <a:ext cx="7772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97280"/>
            <a:ext cx="4114800" cy="2514600"/>
          </a:xfrm>
          <a:prstGeom prst="rect">
            <a:avLst>
              <a:gd name="adj" fmla="val 2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97280"/>
            <a:ext cx="54864" cy="25146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场景3：先锋客户限时权益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508760"/>
            <a:ext cx="3703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杆杆响天梯赛"先锋客户"招募进行中。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先锋客户专属权益：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区域独家保护权（L2: 5公里，L3: 3公里）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6-12个月独家布局窗口期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城市级营销优先导流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赠送价值12800元运营落地服务包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未来L1"王者殿堂"优先晋级资格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写入合同的独家权益，先到先得。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4114800" cy="2514600"/>
          </a:xfrm>
          <a:prstGeom prst="rect">
            <a:avLst>
              <a:gd name="adj" fmla="val 2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97280"/>
            <a:ext cx="54864" cy="2514600"/>
          </a:xfrm>
          <a:prstGeom prst="rect">
            <a:avLst/>
          </a:prstGeom>
          <a:solidFill>
            <a:srgbClr val="EDBE44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场景4：球房落地过程实拍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92040" y="1508760"/>
            <a:ext cx="3703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今天在XX球房做落地部署！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全流程记录：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上午：系统安装+后台配置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下午：员工培训+流程演练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物料到位：海报、台卡、二维码全部就位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明天就可以开始第一场天梯赛了！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XX老板说："没想到这么快就能跑起来。"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从签约到开赛，最快3天搞定。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3794760"/>
            <a:ext cx="8412480" cy="1051560"/>
          </a:xfrm>
          <a:prstGeom prst="rect">
            <a:avLst>
              <a:gd name="adj" fmla="val 5217"/>
            </a:avLst>
          </a:prstGeom>
          <a:solidFill>
            <a:srgbClr val="1A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场景5：朋友圈互动引导（周末轻松型）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416052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做个小调查：如果你的球房能自动帮你做到以下哪一项，你最想要哪个？  A. 周中台位利用率提升30%+  B. 玩家每周主动到店6次以上  C. 不用办赛事也能让球房天天热闹  D. 以上全要  →  选D的老板，你可以私信我了。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4008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五、配图素材规划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 ASSETS</a:t>
            </a:r>
            <a:endParaRPr lang="en-US" sz="1300" dirty="0"/>
          </a:p>
        </p:txBody>
      </p:sp>
      <p:pic>
        <p:nvPicPr>
          <p:cNvPr id="5" name="Image 0" descr="D:/AI工作/杆杆响VI/品牌素材及源文件/PNG/白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28600"/>
            <a:ext cx="82296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必备素材清单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931920" cy="457200"/>
          </a:xfrm>
          <a:prstGeom prst="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645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品牌素材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8308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杆杆响天梯赛logo、主KV、品牌色板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148840"/>
            <a:ext cx="3931920" cy="457200"/>
          </a:xfrm>
          <a:prstGeom prst="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194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产品素材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78308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系统界面截图、段位体系图、积分兑换流程图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697480"/>
            <a:ext cx="3931920" cy="457200"/>
          </a:xfrm>
          <a:prstGeom prst="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数据素材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78308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经营增长图表、赛事数据仪表盘截图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3246120"/>
            <a:ext cx="3931920" cy="457200"/>
          </a:xfrm>
          <a:prstGeom prst="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291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现场素材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78308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满台场景、玩家对战、积分兑换、签约合影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794760"/>
            <a:ext cx="3931920" cy="457200"/>
          </a:xfrm>
          <a:prstGeom prst="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3840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物料素材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78308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授权铜牌、赛事海报、球房落地物料照片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4343400"/>
            <a:ext cx="3931920" cy="457200"/>
          </a:xfrm>
          <a:prstGeom prst="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地图素材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78308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城市区域分布图（标注已签约/可申请区域）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素材获取方式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846320" y="1600200"/>
            <a:ext cx="3840480" cy="685800"/>
          </a:xfrm>
          <a:prstGeom prst="rect">
            <a:avLst>
              <a:gd name="adj" fmla="val 6667"/>
            </a:avLst>
          </a:prstGeom>
          <a:solidFill>
            <a:srgbClr val="2A2A2A"/>
          </a:solidFill>
          <a:ln/>
        </p:spPr>
      </p:sp>
      <p:sp>
        <p:nvSpPr>
          <p:cNvPr id="27" name="Shape 24"/>
          <p:cNvSpPr/>
          <p:nvPr/>
        </p:nvSpPr>
        <p:spPr>
          <a:xfrm>
            <a:off x="4846320" y="1600200"/>
            <a:ext cx="45720" cy="68580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运营部提供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2920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品牌VI素材库、产品截图、数据模板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46320" y="2423160"/>
            <a:ext cx="3840480" cy="685800"/>
          </a:xfrm>
          <a:prstGeom prst="rect">
            <a:avLst>
              <a:gd name="adj" fmla="val 6667"/>
            </a:avLst>
          </a:prstGeom>
          <a:solidFill>
            <a:srgbClr val="2A2A2A"/>
          </a:solidFill>
          <a:ln/>
        </p:spPr>
      </p:sp>
      <p:sp>
        <p:nvSpPr>
          <p:cNvPr id="31" name="Shape 28"/>
          <p:cNvSpPr/>
          <p:nvPr/>
        </p:nvSpPr>
        <p:spPr>
          <a:xfrm>
            <a:off x="4846320" y="2423160"/>
            <a:ext cx="45720" cy="685800"/>
          </a:xfrm>
          <a:prstGeom prst="rect">
            <a:avLst/>
          </a:prstGeom>
          <a:solidFill>
            <a:srgbClr val="EDBE44"/>
          </a:solidFill>
          <a:ln/>
        </p:spPr>
      </p:sp>
      <p:sp>
        <p:nvSpPr>
          <p:cNvPr id="32" name="Text 29"/>
          <p:cNvSpPr/>
          <p:nvPr/>
        </p:nvSpPr>
        <p:spPr>
          <a:xfrm>
            <a:off x="502920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销售自行拍摄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02920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走访球房现场照片/短视频、签约合影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846320" y="3246120"/>
            <a:ext cx="3840480" cy="685800"/>
          </a:xfrm>
          <a:prstGeom prst="rect">
            <a:avLst>
              <a:gd name="adj" fmla="val 6667"/>
            </a:avLst>
          </a:prstGeom>
          <a:solidFill>
            <a:srgbClr val="2A2A2A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0" y="3246120"/>
            <a:ext cx="45720" cy="6858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合作球房提供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029200" y="3566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赛事现场照片、老板证言视频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846320" y="4069080"/>
            <a:ext cx="3840480" cy="685800"/>
          </a:xfrm>
          <a:prstGeom prst="rect">
            <a:avLst>
              <a:gd name="adj" fmla="val 6667"/>
            </a:avLst>
          </a:prstGeom>
          <a:solidFill>
            <a:srgbClr val="2A2A2A"/>
          </a:solidFill>
          <a:ln/>
        </p:spPr>
      </p:sp>
      <p:sp>
        <p:nvSpPr>
          <p:cNvPr id="39" name="Shape 36"/>
          <p:cNvSpPr/>
          <p:nvPr/>
        </p:nvSpPr>
        <p:spPr>
          <a:xfrm>
            <a:off x="4846320" y="4069080"/>
            <a:ext cx="45720" cy="6858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每周更新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029200" y="4389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运营部每周一发布《本周素材包》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含3-5张新图+1-2条文案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64008" cy="5943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六、运营注意事项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OPERATION GUIDELINES</a:t>
            </a:r>
            <a:endParaRPr lang="en-US" sz="1200" dirty="0"/>
          </a:p>
        </p:txBody>
      </p:sp>
      <p:pic>
        <p:nvPicPr>
          <p:cNvPr id="6" name="Image 0" descr="D:/AI工作/杆杆响VI/品牌素材及源文件/PNG/全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82880"/>
            <a:ext cx="7772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97280"/>
            <a:ext cx="4114800" cy="1828800"/>
          </a:xfrm>
          <a:prstGeom prst="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97280"/>
            <a:ext cx="4114800" cy="457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发布时间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黄金时段：12:00-13:00（午休）/ 20:00-22:00（晚间）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避免时段：上午8-10点（老板忙开业）/ 凌晨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周末建议：周六下午或周日上午发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4114800" cy="1828800"/>
          </a:xfrm>
          <a:prstGeom prst="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97280"/>
            <a:ext cx="4114800" cy="45720"/>
          </a:xfrm>
          <a:prstGeom prst="rect">
            <a:avLst/>
          </a:prstGeom>
          <a:solidFill>
            <a:srgbClr val="EDBE44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文案五大原则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4632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说人话：像朋友聊天一样写，不用官方辞令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有钩子：每条结尾设置行动引导（私信/评论）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有数据：用具体数字代替模糊表述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有情绪：痛点要扎心，案例要真实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控长度：300字以内，超过6行会被折叠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3108960"/>
            <a:ext cx="4114800" cy="173736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3108960"/>
            <a:ext cx="54864" cy="17373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互动技巧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4360" y="352044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点赞回访：每天花10分钟给目标客户点赞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评论互动：客户评论必回，24小时内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私信跟进：有人互动你的内容，当天私信跟进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不要群发：朋友圈养鱼更自然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3108960"/>
            <a:ext cx="4114800" cy="1737360"/>
          </a:xfrm>
          <a:prstGeom prst="rect">
            <a:avLst>
              <a:gd name="adj" fmla="val 3158"/>
            </a:avLst>
          </a:prstGeom>
          <a:solidFill>
            <a:srgbClr val="1A1A1A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四大禁忌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9204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 不要刷屏  每天最多2条，多了会被屏蔽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3858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 不要硬广  避免纯产品介绍+价格的广告式内容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92040" y="41513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 不要虚构  数据和案例必须真实，可脱敏但不编造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4443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 不要负面  不攻击竞品，只展示自己的优势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4008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七、销售跟进转化SOP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SALES FOLLOW-UP</a:t>
            </a:r>
            <a:endParaRPr lang="en-US" sz="1300" dirty="0"/>
          </a:p>
        </p:txBody>
      </p:sp>
      <p:pic>
        <p:nvPicPr>
          <p:cNvPr id="5" name="Image 0" descr="D:/AI工作/杆杆响VI/品牌素材及源文件/PNG/白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28600"/>
            <a:ext cx="82296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线索分级标准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931920" cy="548640"/>
          </a:xfrm>
          <a:prstGeom prst="rect">
            <a:avLst>
              <a:gd name="adj" fmla="val 6667"/>
            </a:avLst>
          </a:prstGeom>
          <a:solidFill>
            <a:srgbClr val="2A2A2A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1645920"/>
            <a:ext cx="640080" cy="365760"/>
          </a:xfrm>
          <a:prstGeom prst="rect">
            <a:avLst>
              <a:gd name="adj" fmla="val 10000"/>
            </a:avLst>
          </a:prstGeom>
          <a:solidFill>
            <a:srgbClr val="F57C0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6459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A级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71600" y="1572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主动私信/评论问价/要方案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71600" y="18288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24小时内电话+发方案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" y="2194560"/>
            <a:ext cx="3931920" cy="548640"/>
          </a:xfrm>
          <a:prstGeom prst="rect">
            <a:avLst>
              <a:gd name="adj" fmla="val 6667"/>
            </a:avLst>
          </a:prstGeom>
          <a:solidFill>
            <a:srgbClr val="2A2A2A"/>
          </a:solidFill>
          <a:ln/>
        </p:spPr>
      </p:sp>
      <p:sp>
        <p:nvSpPr>
          <p:cNvPr id="13" name="Shape 10"/>
          <p:cNvSpPr/>
          <p:nvPr/>
        </p:nvSpPr>
        <p:spPr>
          <a:xfrm>
            <a:off x="594360" y="2286000"/>
            <a:ext cx="640080" cy="365760"/>
          </a:xfrm>
          <a:prstGeom prst="rect">
            <a:avLst>
              <a:gd name="adj" fmla="val 10000"/>
            </a:avLst>
          </a:prstGeom>
          <a:solidFill>
            <a:srgbClr val="EDBE44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B级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0" y="2212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点赞天梯赛内容/转发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371600" y="24688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48小时内私信破冰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2834640"/>
            <a:ext cx="3931920" cy="548640"/>
          </a:xfrm>
          <a:prstGeom prst="rect">
            <a:avLst>
              <a:gd name="adj" fmla="val 6667"/>
            </a:avLst>
          </a:prstGeom>
          <a:solidFill>
            <a:srgbClr val="2A2A2A"/>
          </a:solidFill>
          <a:ln/>
        </p:spPr>
      </p:sp>
      <p:sp>
        <p:nvSpPr>
          <p:cNvPr id="18" name="Shape 15"/>
          <p:cNvSpPr/>
          <p:nvPr/>
        </p:nvSpPr>
        <p:spPr>
          <a:xfrm>
            <a:off x="594360" y="2926080"/>
            <a:ext cx="640080" cy="365760"/>
          </a:xfrm>
          <a:prstGeom prst="rect">
            <a:avLst>
              <a:gd name="adj" fmla="val 10000"/>
            </a:avLst>
          </a:prstGeom>
          <a:solidFill>
            <a:srgbClr val="999999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C级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71600" y="2852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从不互动但持续在看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371600" y="31089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持续养鱼，每两周私信1次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转化节点动作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24" name="Text 21"/>
          <p:cNvSpPr/>
          <p:nvPr/>
        </p:nvSpPr>
        <p:spPr>
          <a:xfrm>
            <a:off x="48463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394960" y="1554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首次咨询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9224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发送合作方案PDF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预约线下/线上演示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46320" y="2286000"/>
            <a:ext cx="411480" cy="4114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28" name="Text 25"/>
          <p:cNvSpPr/>
          <p:nvPr/>
        </p:nvSpPr>
        <p:spPr>
          <a:xfrm>
            <a:off x="484632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39496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演示完成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92240" y="2240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发送场地评估表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匹配合作级别建议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846320" y="2971800"/>
            <a:ext cx="411480" cy="4114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32" name="Text 29"/>
          <p:cNvSpPr/>
          <p:nvPr/>
        </p:nvSpPr>
        <p:spPr>
          <a:xfrm>
            <a:off x="484632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39496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意向确认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92240" y="2926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发送合作意向表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强调区域保护时效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846320" y="3657600"/>
            <a:ext cx="411480" cy="4114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36" name="Text 33"/>
          <p:cNvSpPr/>
          <p:nvPr/>
        </p:nvSpPr>
        <p:spPr>
          <a:xfrm>
            <a:off x="484632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394960" y="3611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签约成交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92240" y="3611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朋友圈官宣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启动落地部署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65760" y="3931920"/>
            <a:ext cx="8412480" cy="914400"/>
          </a:xfrm>
          <a:prstGeom prst="rect">
            <a:avLst>
              <a:gd name="adj" fmla="val 6000"/>
            </a:avLst>
          </a:prstGeom>
          <a:solidFill>
            <a:srgbClr val="2A2A2A"/>
          </a:solidFill>
          <a:ln/>
        </p:spPr>
      </p:sp>
      <p:sp>
        <p:nvSpPr>
          <p:cNvPr id="40" name="Text 37"/>
          <p:cNvSpPr/>
          <p:nvPr/>
        </p:nvSpPr>
        <p:spPr>
          <a:xfrm>
            <a:off x="54864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首次破冰话术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X总好！看到您关注了天梯赛的内容，不知道您的球房目前有没有在做赛事相关的运营？我们最近在本城市招募合作球房，您所在的XX区目前还有名额。如果方便，我可以帮您做一个免费的球房经营评估。什么时候方便聊几分钟？"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64008" cy="5943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八、效果追踪与优化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 TRACKING</a:t>
            </a:r>
            <a:endParaRPr lang="en-US" sz="1200" dirty="0"/>
          </a:p>
        </p:txBody>
      </p:sp>
      <p:pic>
        <p:nvPicPr>
          <p:cNvPr id="6" name="Image 0" descr="D:/AI工作/杆杆响VI/品牌素材及源文件/PNG/全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82880"/>
            <a:ext cx="7772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43000"/>
            <a:ext cx="1965960" cy="201168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143000"/>
            <a:ext cx="196596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371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5+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55448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互动/条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057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朋友圈互动率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23774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每条平均点赞+评论数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14600" y="1143000"/>
            <a:ext cx="1965960" cy="201168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14600" y="1143000"/>
            <a:ext cx="1965960" cy="54864"/>
          </a:xfrm>
          <a:prstGeom prst="rect">
            <a:avLst/>
          </a:prstGeom>
          <a:solidFill>
            <a:srgbClr val="EDBE44"/>
          </a:solidFill>
          <a:ln/>
        </p:spPr>
      </p:sp>
      <p:sp>
        <p:nvSpPr>
          <p:cNvPr id="15" name="Text 12"/>
          <p:cNvSpPr/>
          <p:nvPr/>
        </p:nvSpPr>
        <p:spPr>
          <a:xfrm>
            <a:off x="2514600" y="1371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370332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条/周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606040" y="2057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主动咨询量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606040" y="23774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朋友圈引发的私信咨询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1143000"/>
            <a:ext cx="1965960" cy="201168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1143000"/>
            <a:ext cx="196596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8"/>
          <p:cNvSpPr/>
          <p:nvPr/>
        </p:nvSpPr>
        <p:spPr>
          <a:xfrm>
            <a:off x="4663440" y="1371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585216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754880" y="2057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线索转化率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754880" y="23774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从咨询到签约的转化比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812280" y="1143000"/>
            <a:ext cx="1965960" cy="201168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1143000"/>
            <a:ext cx="196596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7" name="Text 24"/>
          <p:cNvSpPr/>
          <p:nvPr/>
        </p:nvSpPr>
        <p:spPr>
          <a:xfrm>
            <a:off x="6812280" y="1371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3600" dirty="0"/>
          </a:p>
        </p:txBody>
      </p:sp>
      <p:sp>
        <p:nvSpPr>
          <p:cNvPr id="28" name="Text 25"/>
          <p:cNvSpPr/>
          <p:nvPr/>
        </p:nvSpPr>
        <p:spPr>
          <a:xfrm>
            <a:off x="800100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03720" y="2057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转介绍率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903720" y="23774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老客户推荐新客户占比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5760" y="3383280"/>
            <a:ext cx="8412480" cy="146304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32" name="Text 29"/>
          <p:cNvSpPr/>
          <p:nvPr/>
        </p:nvSpPr>
        <p:spPr>
          <a:xfrm>
            <a:off x="59436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每周复盘机制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94360" y="3977640"/>
            <a:ext cx="365760" cy="36576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34" name="Text 31"/>
          <p:cNvSpPr/>
          <p:nvPr/>
        </p:nvSpPr>
        <p:spPr>
          <a:xfrm>
            <a:off x="59436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97280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分享优秀案例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97280" y="4206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每周五下午团队分享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本周表现最好的3条文案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429000" y="3977640"/>
            <a:ext cx="365760" cy="36576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38" name="Text 35"/>
          <p:cNvSpPr/>
          <p:nvPr/>
        </p:nvSpPr>
        <p:spPr>
          <a:xfrm>
            <a:off x="342900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931920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分析共性规律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3931920" y="4206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高互动内容的共性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什么内容老板最关注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263640" y="3977640"/>
            <a:ext cx="365760" cy="36576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42" name="Text 39"/>
          <p:cNvSpPr/>
          <p:nvPr/>
        </p:nvSpPr>
        <p:spPr>
          <a:xfrm>
            <a:off x="626364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766560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BE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更新素材需求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766560" y="4206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同步下周素材需求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给运营部制作新素材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371600"/>
            <a:ext cx="5486400" cy="5486400"/>
          </a:xfrm>
          <a:prstGeom prst="ellipse">
            <a:avLst/>
          </a:prstGeom>
          <a:ln w="12700">
            <a:solidFill>
              <a:srgbClr val="2A2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7C00"/>
          </a:solidFill>
          <a:ln/>
        </p:spPr>
      </p:sp>
      <p:pic>
        <p:nvPicPr>
          <p:cNvPr id="6" name="Image 0" descr="D:/AI工作/杆杆响VI/品牌素材及源文件/PNG/全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731520"/>
            <a:ext cx="22860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517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用赛事做增长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帮每一家球房找到增长方法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200400" y="4023360"/>
            <a:ext cx="2743200" cy="36576"/>
          </a:xfrm>
          <a:prstGeom prst="rect">
            <a:avLst/>
          </a:prstGeom>
          <a:solidFill>
            <a:srgbClr val="F57C00"/>
          </a:solidFill>
          <a:ln/>
        </p:spPr>
      </p:sp>
      <p:pic>
        <p:nvPicPr>
          <p:cNvPr id="10" name="Image 1" descr="D:/AI工作/杆杆响VI/品牌素材及源文件/素材/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4160520"/>
            <a:ext cx="457200" cy="731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杆杆响智慧台球  |  天梯赛事业部  |  内部培训资料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杆杆响天梯赛 · 销售朋友圈营销方案</dc:title>
  <dc:subject>PptxGenJS Presentation</dc:subject>
  <dc:creator>杆杆响</dc:creator>
  <cp:lastModifiedBy>杆杆响</cp:lastModifiedBy>
  <cp:revision>1</cp:revision>
  <dcterms:created xsi:type="dcterms:W3CDTF">2026-03-03T08:02:16Z</dcterms:created>
  <dcterms:modified xsi:type="dcterms:W3CDTF">2026-03-03T08:02:16Z</dcterms:modified>
</cp:coreProperties>
</file>